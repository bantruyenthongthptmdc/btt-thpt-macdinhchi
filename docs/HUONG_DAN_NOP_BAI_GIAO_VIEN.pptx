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4A3B8"/>
                </a:solidFill>
                <a:latin typeface="Arial"/>
              </a:defRPr>
            </a:pPr>
            <a:r>
              <a:t>TRƯỜNG THPT MẠC ĐĨNH CHI  •  BAN TRUYỀN THÔNG 2026 - 2027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Arial"/>
              </a:defRPr>
            </a:pPr>
            <a:r>
              <a:t>HƯỚNG DẪN 3 PHÚT</a:t>
            </a:r>
          </a:p>
          <a:p>
            <a:pPr>
              <a:spcBef>
                <a:spcPts val="600"/>
              </a:spcBef>
              <a:defRPr sz="3600" b="1">
                <a:solidFill>
                  <a:srgbClr val="FFFFFF"/>
                </a:solidFill>
                <a:latin typeface="Arial"/>
              </a:defRPr>
            </a:pPr>
            <a:r>
              <a:t>NỘP BÀI TRUYỀN THÔNG LÊN WEBSITE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Dành cho Quý Thầy/Cô đại diện các Tổ Chuyên Môn &amp; Câu Lạc Bộ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754880"/>
            <a:ext cx="3200400" cy="1280160"/>
          </a:xfrm>
          <a:prstGeom prst="roundRect">
            <a:avLst/>
          </a:prstGeom>
          <a:solidFill>
            <a:srgbClr val="0F1E36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8463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📱 Mọi thiết bị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Dùng được trên Điện thoại &amp; Máy tính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4754880"/>
            <a:ext cx="3200400" cy="1280160"/>
          </a:xfrm>
          <a:prstGeom prst="roundRect">
            <a:avLst/>
          </a:prstGeom>
          <a:solidFill>
            <a:srgbClr val="0F1E36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48463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⚡ Cực nhanh gọn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KHÔNG CẦN đăng nhập Gmail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4754880"/>
            <a:ext cx="3200400" cy="1280160"/>
          </a:xfrm>
          <a:prstGeom prst="roundRect">
            <a:avLst/>
          </a:prstGeom>
          <a:solidFill>
            <a:srgbClr val="0F1E36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48463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🎫 Tự động cấp mã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Theo dõi tiến độ duyệt bài trực tiếp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6217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ADE80"/>
                </a:solidFill>
                <a:latin typeface="Arial"/>
              </a:defRPr>
            </a:pPr>
            <a:r>
              <a:t>👉 Link truy cập cổng nộp bài:  https://bantruyenthong.pages.dev/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56DB"/>
                </a:solidFill>
                <a:latin typeface="Arial"/>
              </a:defRPr>
            </a:pPr>
            <a:r>
              <a:t>TIỆN LỢI CHO THẦY/CÔ</a:t>
            </a:r>
          </a:p>
          <a:p>
            <a:pPr>
              <a:spcBef>
                <a:spcPts val="200"/>
              </a:spcBef>
              <a:defRPr sz="2400" b="1">
                <a:solidFill>
                  <a:srgbClr val="0F3E6D"/>
                </a:solidFill>
                <a:latin typeface="Arial"/>
              </a:defRPr>
            </a:pPr>
            <a:r>
              <a:t>4 Điểm Cộng Vượt Trội Của Hệ Thống Mới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20116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709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  <a:latin typeface="Arial"/>
              </a:defRPr>
            </a:pPr>
            <a:r>
              <a:t>🔓  1. Không cần đăng nhập Gmail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Arial"/>
              </a:defRPr>
            </a:pPr>
            <a:r>
              <a:t>Thầy/Cô chỉ cần nhấp vào link là gửi được bài ngay. Không lo quên mật khẩu, không bị giới hạn tài khoản.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57800" cy="201168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20"/>
            <a:ext cx="4709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  <a:latin typeface="Arial"/>
              </a:defRPr>
            </a:pPr>
            <a:r>
              <a:t>🎫  2. Tự động cấp mã Ticket ID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Arial"/>
              </a:defRPr>
            </a:pPr>
            <a:r>
              <a:t>Mỗi bài viết có mã riêng dạng TT-2026-XXXX và email xác nhận gửi tức thì về hòm thư để Thầy/Cô an tâm.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57800" cy="201168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4709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  <a:latin typeface="Arial"/>
              </a:defRPr>
            </a:pPr>
            <a:r>
              <a:t>📸  3. Tải cùng lúc 20 ảnh gốc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Arial"/>
              </a:defRPr>
            </a:pPr>
            <a:r>
              <a:t>Hỗ trợ kéo thả tối đa 20 file ảnh/video (50MB/file). Có sẵn ô dán link Google Drive nếu có clip dung lượng lớn.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931920"/>
            <a:ext cx="5257800" cy="201168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160520"/>
            <a:ext cx="4709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  <a:latin typeface="Arial"/>
              </a:defRPr>
            </a:pPr>
            <a:r>
              <a:t>⚡  4. Chèn Footer mẫu 1-Click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Arial"/>
              </a:defRPr>
            </a:pPr>
            <a:r>
              <a:t>Chỉ cần bấm 1 nút là tự động điền sẵn toàn bộ thông tin bản quyền và liên hệ của trường Mạc Đĩnh Chi.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4663440" cy="5760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7724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0392B"/>
                </a:solidFill>
                <a:latin typeface="Arial"/>
              </a:defRPr>
            </a:pPr>
            <a:r>
              <a:t>BƯỚC 1 / 4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900" b="1">
                <a:solidFill>
                  <a:srgbClr val="0F3E6D"/>
                </a:solidFill>
                <a:latin typeface="Arial"/>
              </a:defRPr>
            </a:pPr>
            <a:r>
              <a:t>Vào Web &amp; Chọn Giáo Viên</a:t>
            </a:r>
          </a:p>
          <a:p>
            <a:pPr>
              <a:spcBef>
                <a:spcPts val="500"/>
              </a:spcBef>
              <a:spcAft>
                <a:spcPts val="400"/>
              </a:spcAft>
            </a:pPr>
            <a:r>
              <a:rPr sz="1200" b="1">
                <a:solidFill>
                  <a:srgbClr val="0A2540"/>
                </a:solidFill>
                <a:latin typeface="Arial"/>
              </a:rPr>
              <a:t>✔  Mở trình duyệt vào link:</a:t>
            </a:r>
            <a:r>
              <a:rPr sz="1100">
                <a:solidFill>
                  <a:srgbClr val="475569"/>
                </a:solidFill>
                <a:latin typeface="Arial"/>
              </a:rPr>
              <a:t>
    https://bantruyenthong.pages.dev/</a:t>
            </a:r>
          </a:p>
          <a:p>
            <a:pPr>
              <a:spcBef>
                <a:spcPts val="500"/>
              </a:spcBef>
              <a:spcAft>
                <a:spcPts val="400"/>
              </a:spcAft>
            </a:pPr>
            <a:r>
              <a:rPr sz="1200" b="1">
                <a:solidFill>
                  <a:srgbClr val="0A2540"/>
                </a:solidFill>
                <a:latin typeface="Arial"/>
              </a:rPr>
              <a:t>✔  Hệ thống đã chọn sẵn mặc định:</a:t>
            </a:r>
            <a:r>
              <a:rPr sz="1100">
                <a:solidFill>
                  <a:srgbClr val="475569"/>
                </a:solidFill>
                <a:latin typeface="Arial"/>
              </a:rPr>
              <a:t>
    • Tác vụ: 1. Nộp Bài Viết Mới
• Đối tượng: Giáo Viên / Tổ Chuyên Môn &amp; CLB</a:t>
            </a:r>
          </a:p>
          <a:p>
            <a:pPr>
              <a:spcBef>
                <a:spcPts val="500"/>
              </a:spcBef>
              <a:spcAft>
                <a:spcPts val="400"/>
              </a:spcAft>
            </a:pPr>
            <a:r>
              <a:rPr sz="1200" b="1">
                <a:solidFill>
                  <a:srgbClr val="0A2540"/>
                </a:solidFill>
                <a:latin typeface="Arial"/>
              </a:rPr>
              <a:t>✔  Thao tác của Thầy/Cô:</a:t>
            </a:r>
            <a:r>
              <a:rPr sz="1100">
                <a:solidFill>
                  <a:srgbClr val="475569"/>
                </a:solidFill>
                <a:latin typeface="Arial"/>
              </a:rPr>
              <a:t>
    Chỉ cần giữ nguyên các lựa chọn này và điền tiếp thông tin ở bên dưới.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754880"/>
            <a:ext cx="4206240" cy="128016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80060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D97706"/>
                </a:solidFill>
                <a:latin typeface="Arial"/>
              </a:defRPr>
            </a:pPr>
            <a:r>
              <a:t>💡 MẸO NHANH CHO THẦY/CÔ: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Dùng điện thoại thông minh (iPhone / Android) hay máy tính đều thao tác mượt mà như nhau!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548640"/>
            <a:ext cx="5943600" cy="5760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inh_1_trang_chu_chon_g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685800"/>
            <a:ext cx="5669280" cy="23810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4663440" cy="5760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7724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0392B"/>
                </a:solidFill>
                <a:latin typeface="Arial"/>
              </a:defRPr>
            </a:pPr>
            <a:r>
              <a:t>BƯỚC 2 / 4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900" b="1">
                <a:solidFill>
                  <a:srgbClr val="0F3E6D"/>
                </a:solidFill>
                <a:latin typeface="Arial"/>
              </a:defRPr>
            </a:pPr>
            <a:r>
              <a:t>Điền Thông Tin Đại Diện</a:t>
            </a:r>
          </a:p>
          <a:p>
            <a:pPr>
              <a:spcBef>
                <a:spcPts val="500"/>
              </a:spcBef>
              <a:spcAft>
                <a:spcPts val="400"/>
              </a:spcAft>
            </a:pPr>
            <a:r>
              <a:rPr sz="1200" b="1">
                <a:solidFill>
                  <a:srgbClr val="0A2540"/>
                </a:solidFill>
                <a:latin typeface="Arial"/>
              </a:rPr>
              <a:t>✔  Tổ Chuyên Môn / Đơn Vị / CLB:</a:t>
            </a:r>
            <a:r>
              <a:rPr sz="1100">
                <a:solidFill>
                  <a:srgbClr val="475569"/>
                </a:solidFill>
                <a:latin typeface="Arial"/>
              </a:rPr>
              <a:t>
    Bấm chọn đúng tên Tổ của Thầy/Cô trong danh sách có sẵn (Toán, Văn, Lí, Hóa, CLB...).</a:t>
            </a:r>
          </a:p>
          <a:p>
            <a:pPr>
              <a:spcBef>
                <a:spcPts val="500"/>
              </a:spcBef>
              <a:spcAft>
                <a:spcPts val="400"/>
              </a:spcAft>
            </a:pPr>
            <a:r>
              <a:rPr sz="1200" b="1">
                <a:solidFill>
                  <a:srgbClr val="0A2540"/>
                </a:solidFill>
                <a:latin typeface="Arial"/>
              </a:rPr>
              <a:t>✔  Họ và Tên Thầy/Cô Đại Diện:</a:t>
            </a:r>
            <a:r>
              <a:rPr sz="1100">
                <a:solidFill>
                  <a:srgbClr val="475569"/>
                </a:solidFill>
                <a:latin typeface="Arial"/>
              </a:rPr>
              <a:t>
    Điền họ tên Thầy/Cô phụ trách bài viết.</a:t>
            </a:r>
          </a:p>
          <a:p>
            <a:pPr>
              <a:spcBef>
                <a:spcPts val="500"/>
              </a:spcBef>
              <a:spcAft>
                <a:spcPts val="400"/>
              </a:spcAft>
            </a:pPr>
            <a:r>
              <a:rPr sz="1200" b="1">
                <a:solidFill>
                  <a:srgbClr val="0A2540"/>
                </a:solidFill>
                <a:latin typeface="Arial"/>
              </a:rPr>
              <a:t>✔  Số Điện Thoại / Zalo:</a:t>
            </a:r>
            <a:r>
              <a:rPr sz="1100">
                <a:solidFill>
                  <a:srgbClr val="475569"/>
                </a:solidFill>
                <a:latin typeface="Arial"/>
              </a:rPr>
              <a:t>
    Để Ban Truyền Thông liên hệ nhanh khi cần duyệt gấp.</a:t>
            </a:r>
          </a:p>
          <a:p>
            <a:pPr>
              <a:spcBef>
                <a:spcPts val="500"/>
              </a:spcBef>
              <a:spcAft>
                <a:spcPts val="400"/>
              </a:spcAft>
            </a:pPr>
            <a:r>
              <a:rPr sz="1200" b="1">
                <a:solidFill>
                  <a:srgbClr val="0A2540"/>
                </a:solidFill>
                <a:latin typeface="Arial"/>
              </a:rPr>
              <a:t>✔  Email Nhận Kết Quả:</a:t>
            </a:r>
            <a:r>
              <a:rPr sz="1100">
                <a:solidFill>
                  <a:srgbClr val="475569"/>
                </a:solidFill>
                <a:latin typeface="Arial"/>
              </a:rPr>
              <a:t>
    Email chính xác để hệ thống gửi Mã Ticket tự động.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754880"/>
            <a:ext cx="4206240" cy="128016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80060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D97706"/>
                </a:solidFill>
                <a:latin typeface="Arial"/>
              </a:defRPr>
            </a:pPr>
            <a:r>
              <a:t>💡 MẸO NHANH CHO THẦY/CÔ: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Email này sẽ nhận biên nhận xác nhận tiếp nhận ngay khi Thầy/Cô bấm gửi bài thành công.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548640"/>
            <a:ext cx="5943600" cy="5760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inh_2_thong_tin_nguoi_n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685800"/>
            <a:ext cx="5669280" cy="23505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4663440" cy="5760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7724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0392B"/>
                </a:solidFill>
                <a:latin typeface="Arial"/>
              </a:defRPr>
            </a:pPr>
            <a:r>
              <a:t>BƯỚC 3 / 4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900" b="1">
                <a:solidFill>
                  <a:srgbClr val="0F3E6D"/>
                </a:solidFill>
                <a:latin typeface="Arial"/>
              </a:defRPr>
            </a:pPr>
            <a:r>
              <a:t>Nội Dung &amp; Mẹo 1-Click</a:t>
            </a:r>
          </a:p>
          <a:p>
            <a:pPr>
              <a:spcBef>
                <a:spcPts val="500"/>
              </a:spcBef>
              <a:spcAft>
                <a:spcPts val="400"/>
              </a:spcAft>
            </a:pPr>
            <a:r>
              <a:rPr sz="1200" b="1">
                <a:solidFill>
                  <a:srgbClr val="0A2540"/>
                </a:solidFill>
                <a:latin typeface="Arial"/>
              </a:rPr>
              <a:t>✔  Phân loại &amp; Tên sự kiện:</a:t>
            </a:r>
            <a:r>
              <a:rPr sz="1100">
                <a:solidFill>
                  <a:srgbClr val="475569"/>
                </a:solidFill>
                <a:latin typeface="Arial"/>
              </a:rPr>
              <a:t>
    Chọn loại hoạt động và điền ngắn gọn tiêu đề sự kiện kèm thời gian/địa điểm.</a:t>
            </a:r>
          </a:p>
          <a:p>
            <a:pPr>
              <a:spcBef>
                <a:spcPts val="500"/>
              </a:spcBef>
              <a:spcAft>
                <a:spcPts val="400"/>
              </a:spcAft>
            </a:pPr>
            <a:r>
              <a:rPr sz="1200" b="1">
                <a:solidFill>
                  <a:srgbClr val="0A2540"/>
                </a:solidFill>
                <a:latin typeface="Arial"/>
              </a:rPr>
              <a:t>✔  Caption đề xuất đăng bài:</a:t>
            </a:r>
            <a:r>
              <a:rPr sz="1100">
                <a:solidFill>
                  <a:srgbClr val="475569"/>
                </a:solidFill>
                <a:latin typeface="Arial"/>
              </a:rPr>
              <a:t>
    Gõ nội dung hoặc dán từ Word sang.</a:t>
            </a:r>
          </a:p>
          <a:p>
            <a:pPr>
              <a:spcBef>
                <a:spcPts val="500"/>
              </a:spcBef>
              <a:spcAft>
                <a:spcPts val="400"/>
              </a:spcAft>
            </a:pPr>
            <a:r>
              <a:rPr sz="1200" b="1">
                <a:solidFill>
                  <a:srgbClr val="0A2540"/>
                </a:solidFill>
                <a:latin typeface="Arial"/>
              </a:rPr>
              <a:t>✔  Cực nhanh - Nút Footer chuẩn:</a:t>
            </a:r>
            <a:r>
              <a:rPr sz="1100">
                <a:solidFill>
                  <a:srgbClr val="475569"/>
                </a:solidFill>
                <a:latin typeface="Arial"/>
              </a:rPr>
              <a:t>
    Bấm nút [Chèn mẫu Footer chuẩn vào Caption] ngay phía trên ô gõ bài.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754880"/>
            <a:ext cx="4206240" cy="128016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80060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D97706"/>
                </a:solidFill>
                <a:latin typeface="Arial"/>
              </a:defRPr>
            </a:pPr>
            <a:r>
              <a:t>💡 MẸO NHANH CHO THẦY/CÔ: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Hệ thống tự điền sẵn Chịu trách nhiệm nội dung/hình ảnh, địa chỉ trường, website và fanpage. Thầy/Cô chỉ cần gõ tên mình vào!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548640"/>
            <a:ext cx="5943600" cy="5760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inh_3_noi_dung_ca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685800"/>
            <a:ext cx="5669280" cy="56973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4663440" cy="5760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7724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0392B"/>
                </a:solidFill>
                <a:latin typeface="Arial"/>
              </a:defRPr>
            </a:pPr>
            <a:r>
              <a:t>BƯỚC 4 / 4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900" b="1">
                <a:solidFill>
                  <a:srgbClr val="0F3E6D"/>
                </a:solidFill>
                <a:latin typeface="Arial"/>
              </a:defRPr>
            </a:pPr>
            <a:r>
              <a:t>Tải Ảnh/Video &amp; Bấm Gửi</a:t>
            </a:r>
          </a:p>
          <a:p>
            <a:pPr>
              <a:spcBef>
                <a:spcPts val="500"/>
              </a:spcBef>
              <a:spcAft>
                <a:spcPts val="400"/>
              </a:spcAft>
            </a:pPr>
            <a:r>
              <a:rPr sz="1200" b="1">
                <a:solidFill>
                  <a:srgbClr val="0A2540"/>
                </a:solidFill>
                <a:latin typeface="Arial"/>
              </a:rPr>
              <a:t>✔  Chọn ảnh từ máy / điện thoại:</a:t>
            </a:r>
            <a:r>
              <a:rPr sz="1100">
                <a:solidFill>
                  <a:srgbClr val="475569"/>
                </a:solidFill>
                <a:latin typeface="Arial"/>
              </a:rPr>
              <a:t>
    Bấm vào khung nét đứt để chọn ảnh (chọn cùng lúc nhiều ảnh, tối đa 20 file).</a:t>
            </a:r>
          </a:p>
          <a:p>
            <a:pPr>
              <a:spcBef>
                <a:spcPts val="500"/>
              </a:spcBef>
              <a:spcAft>
                <a:spcPts val="400"/>
              </a:spcAft>
            </a:pPr>
            <a:r>
              <a:rPr sz="1200" b="1">
                <a:solidFill>
                  <a:srgbClr val="0A2540"/>
                </a:solidFill>
                <a:latin typeface="Arial"/>
              </a:rPr>
              <a:t>✔  Nếu có Video dung lượng lớn:</a:t>
            </a:r>
            <a:r>
              <a:rPr sz="1100">
                <a:solidFill>
                  <a:srgbClr val="475569"/>
                </a:solidFill>
                <a:latin typeface="Arial"/>
              </a:rPr>
              <a:t>
    Chỉ cần dán link Google Drive vào ô riêng, không lo nghẽn mạng.</a:t>
            </a:r>
          </a:p>
          <a:p>
            <a:pPr>
              <a:spcBef>
                <a:spcPts val="500"/>
              </a:spcBef>
              <a:spcAft>
                <a:spcPts val="400"/>
              </a:spcAft>
            </a:pPr>
            <a:r>
              <a:rPr sz="1200" b="1">
                <a:solidFill>
                  <a:srgbClr val="0A2540"/>
                </a:solidFill>
                <a:latin typeface="Arial"/>
              </a:rPr>
              <a:t>✔  Bấm nút: GỬI BÀI DUYỆT TRUYỀN THÔNG:</a:t>
            </a:r>
            <a:r>
              <a:rPr sz="1100">
                <a:solidFill>
                  <a:srgbClr val="475569"/>
                </a:solidFill>
                <a:latin typeface="Arial"/>
              </a:rPr>
              <a:t>
    Chờ 5 - 15 giây, màn hình hiện thông báo NỘP BÀI THÀNH CÔNG và cấp mã TT-2026-XXXX!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754880"/>
            <a:ext cx="4206240" cy="128016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80060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D97706"/>
                </a:solidFill>
                <a:latin typeface="Arial"/>
              </a:defRPr>
            </a:pPr>
            <a:r>
              <a:t>💡 MẸO NHANH CHO THẦY/CÔ: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Thầy/Cô chụp lại mã Ticket hoặc lưu email để tiện theo dõi tiến độ duyệt bài của Tổ mình.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548640"/>
            <a:ext cx="5943600" cy="5760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inh_4_tai_anh_video_gui_b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685800"/>
            <a:ext cx="5669280" cy="4436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4663440" cy="5760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7724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56DB"/>
                </a:solidFill>
                <a:latin typeface="Arial"/>
              </a:defRPr>
            </a:pPr>
            <a:r>
              <a:t>TÍNH NĂNG TIỆN ÍCH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900" b="1">
                <a:solidFill>
                  <a:srgbClr val="0F3E6D"/>
                </a:solidFill>
                <a:latin typeface="Arial"/>
              </a:defRPr>
            </a:pPr>
            <a:r>
              <a:t>Sửa Bài Theo Góp Ý Của BTT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150" b="1">
                <a:solidFill>
                  <a:srgbClr val="0A2540"/>
                </a:solidFill>
                <a:latin typeface="Arial"/>
              </a:rPr>
              <a:t>✔  Khi nào cần sửa: </a:t>
            </a:r>
            <a:r>
              <a:rPr sz="1100">
                <a:solidFill>
                  <a:srgbClr val="475569"/>
                </a:solidFill>
                <a:latin typeface="Arial"/>
              </a:rPr>
              <a:t>
    Khi BTT nhờ bổ sung ảnh nét hơn hoặc đính chính thông tin học sinh đạt giải.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150" b="1">
                <a:solidFill>
                  <a:srgbClr val="0A2540"/>
                </a:solidFill>
                <a:latin typeface="Arial"/>
              </a:rPr>
              <a:t>✔  Không cần nộp lại bài mới: </a:t>
            </a:r>
            <a:r>
              <a:rPr sz="1100">
                <a:solidFill>
                  <a:srgbClr val="475569"/>
                </a:solidFill>
                <a:latin typeface="Arial"/>
              </a:rPr>
              <a:t>
    Thầy/Cô chỉ cần bấm tab [2. Bổ Sung / Sửa Bài Viết] ở đầu trang.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150" b="1">
                <a:solidFill>
                  <a:srgbClr val="0A2540"/>
                </a:solidFill>
                <a:latin typeface="Arial"/>
              </a:rPr>
              <a:t>✔  Tra cứu bài viết: </a:t>
            </a:r>
            <a:r>
              <a:rPr sz="1100">
                <a:solidFill>
                  <a:srgbClr val="475569"/>
                </a:solidFill>
                <a:latin typeface="Arial"/>
              </a:rPr>
              <a:t>
    Nhập Mã Ticket (hoặc SĐT/Tên) rồi bấm [Tìm bài viết] để xem lời dặn của BTT.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150" b="1">
                <a:solidFill>
                  <a:srgbClr val="0A2540"/>
                </a:solidFill>
                <a:latin typeface="Arial"/>
              </a:rPr>
              <a:t>✔  Gửi cập nhật: </a:t>
            </a:r>
            <a:r>
              <a:rPr sz="1100">
                <a:solidFill>
                  <a:srgbClr val="475569"/>
                </a:solidFill>
                <a:latin typeface="Arial"/>
              </a:rPr>
              <a:t>
    Sửa Caption hoặc tải thêm ảnh rồi bấm [GỬI BẢN CẬP NHẬT CHỈNH SỬA].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0" y="548640"/>
            <a:ext cx="5943600" cy="5760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inh_5_tra_cuu_sua_b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097280"/>
            <a:ext cx="566928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LƯU Ý NHỎ ĐỂ BÀI ĐĂNG HOÀN HẢO NHẤT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Đồng hành cùng Quý Thầy/Cô lan tỏa hình ảnh đẹp của THPT Mạc Đĩnh Chi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91840" cy="3108960"/>
          </a:xfrm>
          <a:prstGeom prst="roundRect">
            <a:avLst/>
          </a:prstGeom>
          <a:solidFill>
            <a:srgbClr val="0F1E36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⏰ Gửi bài trong 24h - 48h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Arial"/>
              </a:defRPr>
            </a:pPr>
            <a:r>
              <a:t>Gửi sớm ngay sau khi sự kiện kết thúc giúp bài đăng có độ tương tác cao và giữ nguyên tính thời sự trên Fanpage.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3108960"/>
          </a:xfrm>
          <a:prstGeom prst="roundRect">
            <a:avLst/>
          </a:prstGeom>
          <a:solidFill>
            <a:srgbClr val="0F1E36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28600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📸 Chọn ảnh gốc rõ nét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Arial"/>
              </a:defRPr>
            </a:pPr>
            <a:r>
              <a:t>Thầy/Cô ưu tiên ảnh chụp ngang tỉ lệ 16:9 hoặc 4:3, hạn chế gửi qua Zalo nén thường để tránh vỡ nét khi xuất bản.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011680"/>
            <a:ext cx="3291840" cy="3108960"/>
          </a:xfrm>
          <a:prstGeom prst="roundRect">
            <a:avLst/>
          </a:prstGeom>
          <a:solidFill>
            <a:srgbClr val="0F1E36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228600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📞 Cần hỗ trợ? Có BTT ngay!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Arial"/>
              </a:defRPr>
            </a:pPr>
            <a:r>
              <a:t>Thầy Nguyễn Hồ Trọng Tín (Tổ Tin học) phụ trách hỗ trợ kỹ thuật. Thầy/Cô nhắn tin qua nhóm Zalo là được hỗ trợ liền!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Arial"/>
              </a:defRPr>
            </a:pPr>
            <a:r>
              <a:t>❤️ Ban Truyền Thông trường THPT Mạc Đĩnh Chi trân trọng cảm ơn Quý Thầy/Cô! ❤️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